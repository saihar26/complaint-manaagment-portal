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9" r:id="rId10"/>
    <p:sldId id="263" r:id="rId11"/>
    <p:sldId id="264" r:id="rId12"/>
    <p:sldId id="265" r:id="rId13"/>
    <p:sldId id="268" r:id="rId14"/>
    <p:sldId id="266" r:id="rId1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14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0008" y="324769"/>
            <a:ext cx="4601340" cy="7440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2252" y="191693"/>
            <a:ext cx="4997704" cy="109227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57982" y="348780"/>
            <a:ext cx="4585208" cy="52256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2973" y="388111"/>
            <a:ext cx="4479290" cy="416559"/>
          </a:xfrm>
          <a:custGeom>
            <a:avLst/>
            <a:gdLst/>
            <a:ahLst/>
            <a:cxnLst/>
            <a:rect l="l" t="t" r="r" b="b"/>
            <a:pathLst>
              <a:path w="4479290" h="416559">
                <a:moveTo>
                  <a:pt x="4394200" y="0"/>
                </a:moveTo>
                <a:lnTo>
                  <a:pt x="84962" y="0"/>
                </a:lnTo>
                <a:lnTo>
                  <a:pt x="51943" y="5461"/>
                </a:lnTo>
                <a:lnTo>
                  <a:pt x="24892" y="20320"/>
                </a:lnTo>
                <a:lnTo>
                  <a:pt x="6731" y="42418"/>
                </a:lnTo>
                <a:lnTo>
                  <a:pt x="0" y="69342"/>
                </a:lnTo>
                <a:lnTo>
                  <a:pt x="0" y="346964"/>
                </a:lnTo>
                <a:lnTo>
                  <a:pt x="6731" y="374015"/>
                </a:lnTo>
                <a:lnTo>
                  <a:pt x="24892" y="395986"/>
                </a:lnTo>
                <a:lnTo>
                  <a:pt x="51943" y="410845"/>
                </a:lnTo>
                <a:lnTo>
                  <a:pt x="84962" y="416306"/>
                </a:lnTo>
                <a:lnTo>
                  <a:pt x="4394200" y="416306"/>
                </a:lnTo>
                <a:lnTo>
                  <a:pt x="4427220" y="410845"/>
                </a:lnTo>
                <a:lnTo>
                  <a:pt x="4454271" y="395986"/>
                </a:lnTo>
                <a:lnTo>
                  <a:pt x="4472432" y="374015"/>
                </a:lnTo>
                <a:lnTo>
                  <a:pt x="4479162" y="346964"/>
                </a:lnTo>
                <a:lnTo>
                  <a:pt x="4479162" y="69342"/>
                </a:lnTo>
                <a:lnTo>
                  <a:pt x="4472432" y="42418"/>
                </a:lnTo>
                <a:lnTo>
                  <a:pt x="4454271" y="20320"/>
                </a:lnTo>
                <a:lnTo>
                  <a:pt x="4427220" y="5461"/>
                </a:lnTo>
                <a:lnTo>
                  <a:pt x="43942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0502" y="280797"/>
            <a:ext cx="2517394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1552" y="1767575"/>
            <a:ext cx="6035294" cy="4796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337225"/>
            <a:ext cx="4610862" cy="6286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5408" y="1141432"/>
            <a:ext cx="8847583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3200" dirty="0">
                <a:solidFill>
                  <a:srgbClr val="933735"/>
                </a:solidFill>
              </a:rPr>
              <a:t>    Department</a:t>
            </a:r>
            <a:r>
              <a:rPr lang="en-IN" sz="3200" spc="-120" dirty="0">
                <a:solidFill>
                  <a:srgbClr val="933735"/>
                </a:solidFill>
              </a:rPr>
              <a:t> </a:t>
            </a:r>
            <a:r>
              <a:rPr lang="en-IN" sz="3200" dirty="0">
                <a:solidFill>
                  <a:srgbClr val="933735"/>
                </a:solidFill>
              </a:rPr>
              <a:t>of</a:t>
            </a:r>
            <a:r>
              <a:rPr lang="en-IN" sz="3200" spc="-105" dirty="0">
                <a:solidFill>
                  <a:srgbClr val="933735"/>
                </a:solidFill>
              </a:rPr>
              <a:t> </a:t>
            </a:r>
            <a:r>
              <a:rPr lang="en-IN" sz="3200" dirty="0">
                <a:solidFill>
                  <a:srgbClr val="933735"/>
                </a:solidFill>
              </a:rPr>
              <a:t>Information</a:t>
            </a:r>
            <a:r>
              <a:rPr lang="en-IN" sz="3200" spc="-100" dirty="0">
                <a:solidFill>
                  <a:srgbClr val="933735"/>
                </a:solidFill>
              </a:rPr>
              <a:t> </a:t>
            </a:r>
            <a:r>
              <a:rPr lang="en-IN" sz="3200" spc="-10" dirty="0">
                <a:solidFill>
                  <a:srgbClr val="933735"/>
                </a:solidFill>
              </a:rPr>
              <a:t>Technology</a:t>
            </a:r>
            <a:br>
              <a:rPr lang="en-IN" sz="3200" spc="-10" dirty="0">
                <a:solidFill>
                  <a:srgbClr val="933735"/>
                </a:solidFill>
              </a:rPr>
            </a:br>
            <a:r>
              <a:rPr sz="3200" dirty="0">
                <a:solidFill>
                  <a:srgbClr val="000000"/>
                </a:solidFill>
              </a:rPr>
              <a:t>Java</a:t>
            </a:r>
            <a:r>
              <a:rPr sz="3200" spc="-12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Programming</a:t>
            </a:r>
            <a:r>
              <a:rPr sz="3200" spc="-125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Capstone</a:t>
            </a:r>
            <a:r>
              <a:rPr sz="3200" spc="-10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Project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95400" y="2175236"/>
            <a:ext cx="7924799" cy="4707699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635" algn="ctr">
              <a:spcBef>
                <a:spcPts val="1110"/>
              </a:spcBef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SECOND REVIEW</a:t>
            </a:r>
          </a:p>
          <a:p>
            <a:pPr marL="635" algn="ctr">
              <a:lnSpc>
                <a:spcPct val="100000"/>
              </a:lnSpc>
              <a:spcBef>
                <a:spcPts val="1110"/>
              </a:spcBef>
            </a:pPr>
            <a:r>
              <a:rPr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COMPLAINT MANAGEMENT</a:t>
            </a:r>
            <a:r>
              <a:rPr spc="-25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 </a:t>
            </a:r>
            <a:r>
              <a:rPr spc="-10" dirty="0">
                <a:solidFill>
                  <a:schemeClr val="accent2">
                    <a:lumMod val="75000"/>
                  </a:schemeClr>
                </a:solidFill>
                <a:latin typeface="Palatino Linotype"/>
                <a:cs typeface="Palatino Linotype"/>
              </a:rPr>
              <a:t>PORTAL</a:t>
            </a:r>
            <a:endParaRPr lang="en-US" spc="-10" dirty="0">
              <a:solidFill>
                <a:schemeClr val="accent2">
                  <a:lumMod val="75000"/>
                </a:schemeClr>
              </a:solidFill>
              <a:latin typeface="Palatino Linotype"/>
              <a:cs typeface="Palatino Linotype"/>
            </a:endParaRPr>
          </a:p>
          <a:p>
            <a:pPr marL="635" algn="ctr">
              <a:lnSpc>
                <a:spcPct val="100000"/>
              </a:lnSpc>
              <a:spcBef>
                <a:spcPts val="1110"/>
              </a:spcBef>
            </a:pPr>
            <a:endParaRPr dirty="0">
              <a:solidFill>
                <a:srgbClr val="FF0000"/>
              </a:solidFill>
              <a:latin typeface="Palatino Linotype"/>
              <a:cs typeface="Palatino Linotype"/>
            </a:endParaRPr>
          </a:p>
          <a:p>
            <a:r>
              <a:rPr lang="en-IN" sz="2400" dirty="0"/>
              <a:t>              Team Members:</a:t>
            </a:r>
          </a:p>
          <a:p>
            <a:r>
              <a:rPr lang="en-IN" sz="2400" dirty="0"/>
              <a:t>              SAI HARINI.S – 24B11IT097</a:t>
            </a:r>
            <a:br>
              <a:rPr lang="en-IN" sz="2400" dirty="0"/>
            </a:br>
            <a:r>
              <a:rPr lang="en-IN" sz="2400" dirty="0"/>
              <a:t>              SANJANA.S – 24B11IT093</a:t>
            </a:r>
            <a:br>
              <a:rPr lang="en-IN" sz="2400" dirty="0"/>
            </a:br>
            <a:r>
              <a:rPr lang="en-IN" sz="2400" dirty="0"/>
              <a:t>              RESHMA PRAVALLIKA.T – 24B11IT102</a:t>
            </a:r>
            <a:br>
              <a:rPr lang="en-IN" sz="2400" dirty="0"/>
            </a:br>
            <a:r>
              <a:rPr lang="en-IN" sz="2400" dirty="0"/>
              <a:t>              NAVEEN KUMAR.D – 25B11IT003</a:t>
            </a:r>
          </a:p>
          <a:p>
            <a:r>
              <a:rPr lang="en-IN" sz="2400" dirty="0"/>
              <a:t>             Guide Name:</a:t>
            </a:r>
            <a:br>
              <a:rPr lang="en-IN" sz="2400" dirty="0"/>
            </a:br>
            <a:r>
              <a:rPr lang="en-IN" sz="2400" dirty="0"/>
              <a:t>              VADIGE SATHISH KUMAR</a:t>
            </a:r>
          </a:p>
          <a:p>
            <a:pPr>
              <a:lnSpc>
                <a:spcPct val="100000"/>
              </a:lnSpc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0348" y="125679"/>
            <a:ext cx="4998085" cy="1045210"/>
            <a:chOff x="2530348" y="125679"/>
            <a:chExt cx="4998085" cy="1045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077" y="258762"/>
              <a:ext cx="4601336" cy="7047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0348" y="125679"/>
              <a:ext cx="4997704" cy="104513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3952" y="251472"/>
              <a:ext cx="4577461" cy="5068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18943" y="290703"/>
              <a:ext cx="4471670" cy="400685"/>
            </a:xfrm>
            <a:custGeom>
              <a:avLst/>
              <a:gdLst/>
              <a:ahLst/>
              <a:cxnLst/>
              <a:rect l="l" t="t" r="r" b="b"/>
              <a:pathLst>
                <a:path w="4471670" h="400684">
                  <a:moveTo>
                    <a:pt x="4386453" y="0"/>
                  </a:moveTo>
                  <a:lnTo>
                    <a:pt x="84708" y="0"/>
                  </a:lnTo>
                  <a:lnTo>
                    <a:pt x="51688" y="5333"/>
                  </a:lnTo>
                  <a:lnTo>
                    <a:pt x="24764" y="19685"/>
                  </a:lnTo>
                  <a:lnTo>
                    <a:pt x="6731" y="40767"/>
                  </a:lnTo>
                  <a:lnTo>
                    <a:pt x="0" y="66801"/>
                  </a:lnTo>
                  <a:lnTo>
                    <a:pt x="0" y="333882"/>
                  </a:lnTo>
                  <a:lnTo>
                    <a:pt x="6731" y="359791"/>
                  </a:lnTo>
                  <a:lnTo>
                    <a:pt x="24764" y="381126"/>
                  </a:lnTo>
                  <a:lnTo>
                    <a:pt x="51688" y="395350"/>
                  </a:lnTo>
                  <a:lnTo>
                    <a:pt x="84708" y="400557"/>
                  </a:lnTo>
                  <a:lnTo>
                    <a:pt x="4386453" y="400557"/>
                  </a:lnTo>
                  <a:lnTo>
                    <a:pt x="4419473" y="395350"/>
                  </a:lnTo>
                  <a:lnTo>
                    <a:pt x="4446397" y="381126"/>
                  </a:lnTo>
                  <a:lnTo>
                    <a:pt x="4464558" y="359791"/>
                  </a:lnTo>
                  <a:lnTo>
                    <a:pt x="4471288" y="333882"/>
                  </a:lnTo>
                  <a:lnTo>
                    <a:pt x="4471288" y="66801"/>
                  </a:lnTo>
                  <a:lnTo>
                    <a:pt x="4464558" y="40767"/>
                  </a:lnTo>
                  <a:lnTo>
                    <a:pt x="4446397" y="19685"/>
                  </a:lnTo>
                  <a:lnTo>
                    <a:pt x="4419473" y="5333"/>
                  </a:lnTo>
                  <a:lnTo>
                    <a:pt x="438645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92602" y="282841"/>
              <a:ext cx="3375152" cy="56970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061" y="1222349"/>
            <a:ext cx="8114539" cy="774571"/>
          </a:xfrm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389890" algn="l"/>
              </a:tabLst>
            </a:pP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38400" y="1634"/>
            <a:ext cx="5334000" cy="1198880"/>
            <a:chOff x="2438400" y="33718"/>
            <a:chExt cx="5334000" cy="119888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8400" y="33718"/>
              <a:ext cx="5334000" cy="11983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5931" y="72948"/>
              <a:ext cx="5223129" cy="10922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7248" y="230035"/>
              <a:ext cx="4791964" cy="5225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84779" y="269367"/>
              <a:ext cx="4681220" cy="416559"/>
            </a:xfrm>
            <a:custGeom>
              <a:avLst/>
              <a:gdLst/>
              <a:ahLst/>
              <a:cxnLst/>
              <a:rect l="l" t="t" r="r" b="b"/>
              <a:pathLst>
                <a:path w="4681220" h="416559">
                  <a:moveTo>
                    <a:pt x="4592193" y="0"/>
                  </a:moveTo>
                  <a:lnTo>
                    <a:pt x="88772" y="0"/>
                  </a:lnTo>
                  <a:lnTo>
                    <a:pt x="54228" y="5460"/>
                  </a:lnTo>
                  <a:lnTo>
                    <a:pt x="25907" y="20319"/>
                  </a:lnTo>
                  <a:lnTo>
                    <a:pt x="6984" y="42417"/>
                  </a:lnTo>
                  <a:lnTo>
                    <a:pt x="0" y="69468"/>
                  </a:lnTo>
                  <a:lnTo>
                    <a:pt x="0" y="346963"/>
                  </a:lnTo>
                  <a:lnTo>
                    <a:pt x="6984" y="374014"/>
                  </a:lnTo>
                  <a:lnTo>
                    <a:pt x="25907" y="395985"/>
                  </a:lnTo>
                  <a:lnTo>
                    <a:pt x="54228" y="410844"/>
                  </a:lnTo>
                  <a:lnTo>
                    <a:pt x="88772" y="416305"/>
                  </a:lnTo>
                  <a:lnTo>
                    <a:pt x="4592193" y="416305"/>
                  </a:lnTo>
                  <a:lnTo>
                    <a:pt x="4626864" y="410844"/>
                  </a:lnTo>
                  <a:lnTo>
                    <a:pt x="4655058" y="395985"/>
                  </a:lnTo>
                  <a:lnTo>
                    <a:pt x="4673981" y="374014"/>
                  </a:lnTo>
                  <a:lnTo>
                    <a:pt x="4681093" y="346963"/>
                  </a:lnTo>
                  <a:lnTo>
                    <a:pt x="4681093" y="69468"/>
                  </a:lnTo>
                  <a:lnTo>
                    <a:pt x="4673981" y="42417"/>
                  </a:lnTo>
                  <a:lnTo>
                    <a:pt x="4655058" y="20319"/>
                  </a:lnTo>
                  <a:lnTo>
                    <a:pt x="4626864" y="5460"/>
                  </a:lnTo>
                  <a:lnTo>
                    <a:pt x="459219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412806" y="282841"/>
            <a:ext cx="3541777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95"/>
              </a:spcBef>
            </a:pPr>
            <a:r>
              <a:rPr lang="en-US" sz="2200" dirty="0"/>
              <a:t>PROBLEM STATEMENT</a:t>
            </a:r>
            <a:endParaRPr sz="2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161448-4391-4A02-9A98-D8A3CCB59FFC}"/>
              </a:ext>
            </a:extLst>
          </p:cNvPr>
          <p:cNvSpPr/>
          <p:nvPr/>
        </p:nvSpPr>
        <p:spPr>
          <a:xfrm>
            <a:off x="941229" y="1446250"/>
            <a:ext cx="841933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 many institutions, student complaints are handled manually through registers or verbal communication.</a:t>
            </a:r>
          </a:p>
          <a:p>
            <a:r>
              <a:rPr lang="en-US" sz="2800" dirty="0"/>
              <a:t>This creates several issues, such as:</a:t>
            </a:r>
          </a:p>
          <a:p>
            <a:r>
              <a:rPr lang="en-US" sz="2800" dirty="0"/>
              <a:t>• Complaints getting lost or ignored</a:t>
            </a:r>
            <a:br>
              <a:rPr lang="en-US" sz="2800" dirty="0"/>
            </a:br>
            <a:r>
              <a:rPr lang="en-US" sz="2800" dirty="0"/>
              <a:t>• Lack of transparency in complaint status</a:t>
            </a:r>
            <a:br>
              <a:rPr lang="en-US" sz="2800" dirty="0"/>
            </a:br>
            <a:r>
              <a:rPr lang="en-US" sz="2800" dirty="0"/>
              <a:t>• Delays in resolving problems</a:t>
            </a:r>
            <a:br>
              <a:rPr lang="en-US" sz="2800" dirty="0"/>
            </a:br>
            <a:r>
              <a:rPr lang="en-US" sz="2800" dirty="0"/>
              <a:t>• Difficulty in tracking previous complaints</a:t>
            </a:r>
          </a:p>
          <a:p>
            <a:r>
              <a:rPr lang="en-US" sz="2800" dirty="0"/>
              <a:t>Therefore, an automated system is needed to efficiently register, track, and manage student complaints.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1991" y="60930"/>
            <a:ext cx="4998085" cy="1092835"/>
            <a:chOff x="2721991" y="93014"/>
            <a:chExt cx="499808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9746" y="225963"/>
              <a:ext cx="4601340" cy="7440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1991" y="93014"/>
              <a:ext cx="4997704" cy="10922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721" y="250101"/>
              <a:ext cx="4585208" cy="5225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02712" y="28943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99" y="0"/>
                  </a:moveTo>
                  <a:lnTo>
                    <a:pt x="84962" y="0"/>
                  </a:lnTo>
                  <a:lnTo>
                    <a:pt x="51943" y="5461"/>
                  </a:lnTo>
                  <a:lnTo>
                    <a:pt x="24892" y="20320"/>
                  </a:lnTo>
                  <a:lnTo>
                    <a:pt x="6731" y="42291"/>
                  </a:lnTo>
                  <a:lnTo>
                    <a:pt x="0" y="69342"/>
                  </a:lnTo>
                  <a:lnTo>
                    <a:pt x="0" y="346964"/>
                  </a:lnTo>
                  <a:lnTo>
                    <a:pt x="6731" y="373888"/>
                  </a:lnTo>
                  <a:lnTo>
                    <a:pt x="24892" y="395986"/>
                  </a:lnTo>
                  <a:lnTo>
                    <a:pt x="51943" y="410845"/>
                  </a:lnTo>
                  <a:lnTo>
                    <a:pt x="84962" y="416306"/>
                  </a:lnTo>
                  <a:lnTo>
                    <a:pt x="4394199" y="416306"/>
                  </a:lnTo>
                  <a:lnTo>
                    <a:pt x="4427346" y="410845"/>
                  </a:lnTo>
                  <a:lnTo>
                    <a:pt x="4454270" y="395986"/>
                  </a:lnTo>
                  <a:lnTo>
                    <a:pt x="4472432" y="373888"/>
                  </a:lnTo>
                  <a:lnTo>
                    <a:pt x="4479163" y="346964"/>
                  </a:lnTo>
                  <a:lnTo>
                    <a:pt x="4479163" y="69342"/>
                  </a:lnTo>
                  <a:lnTo>
                    <a:pt x="4472432" y="42291"/>
                  </a:lnTo>
                  <a:lnTo>
                    <a:pt x="4454270" y="20320"/>
                  </a:lnTo>
                  <a:lnTo>
                    <a:pt x="4427346" y="5461"/>
                  </a:lnTo>
                  <a:lnTo>
                    <a:pt x="439419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73895" y="267969"/>
            <a:ext cx="2517394" cy="360680"/>
          </a:xfrm>
          <a:prstGeom prst="rect">
            <a:avLst/>
          </a:prstGeom>
        </p:spPr>
        <p:txBody>
          <a:bodyPr vert="horz" wrap="square" lIns="0" tIns="52018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OBJECTIVES</a:t>
            </a:r>
            <a:endParaRPr spc="-10" dirty="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33BBD2-D2C8-47D6-ABF5-E81D5997DB59}"/>
              </a:ext>
            </a:extLst>
          </p:cNvPr>
          <p:cNvSpPr/>
          <p:nvPr/>
        </p:nvSpPr>
        <p:spPr>
          <a:xfrm>
            <a:off x="1196280" y="1447800"/>
            <a:ext cx="80491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main aim of the project is to develop a </a:t>
            </a:r>
            <a:r>
              <a:rPr lang="en-US" sz="2800" b="1" dirty="0"/>
              <a:t>Complaint Management System</a:t>
            </a:r>
            <a:r>
              <a:rPr lang="en-US" sz="2800" dirty="0"/>
              <a:t> that allows students to register complaints and administrators to manage them effectively.</a:t>
            </a:r>
          </a:p>
          <a:p>
            <a:r>
              <a:rPr lang="en-US" sz="2800" b="1" dirty="0"/>
              <a:t>Specific Objectives:</a:t>
            </a:r>
            <a:endParaRPr lang="en-US" sz="2800" dirty="0"/>
          </a:p>
          <a:p>
            <a:r>
              <a:rPr lang="en-US" sz="2800" dirty="0"/>
              <a:t>• To allow students to register complaints online</a:t>
            </a:r>
            <a:br>
              <a:rPr lang="en-US" sz="2800" dirty="0"/>
            </a:br>
            <a:r>
              <a:rPr lang="en-US" sz="2800" dirty="0"/>
              <a:t>• To store complaint data securely in a database</a:t>
            </a:r>
            <a:br>
              <a:rPr lang="en-US" sz="2800" dirty="0"/>
            </a:br>
            <a:r>
              <a:rPr lang="en-US" sz="2800" dirty="0"/>
              <a:t>• To allow administrators to update complaint status</a:t>
            </a:r>
            <a:br>
              <a:rPr lang="en-US" sz="2800" dirty="0"/>
            </a:br>
            <a:r>
              <a:rPr lang="en-US" sz="2800" dirty="0"/>
              <a:t>• To enable students to track complaint progress</a:t>
            </a:r>
            <a:br>
              <a:rPr lang="en-US" sz="2800" dirty="0"/>
            </a:br>
            <a:r>
              <a:rPr lang="en-US" sz="2800" dirty="0"/>
              <a:t>• To reduce manual work and improve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1991" y="92172"/>
            <a:ext cx="4998085" cy="1092835"/>
            <a:chOff x="2721991" y="124256"/>
            <a:chExt cx="499808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9746" y="257332"/>
              <a:ext cx="4601340" cy="7440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1991" y="124256"/>
              <a:ext cx="4997704" cy="10922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721" y="281470"/>
              <a:ext cx="4585208" cy="5225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02712" y="32080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99" y="0"/>
                  </a:moveTo>
                  <a:lnTo>
                    <a:pt x="84962" y="0"/>
                  </a:lnTo>
                  <a:lnTo>
                    <a:pt x="51943" y="5461"/>
                  </a:lnTo>
                  <a:lnTo>
                    <a:pt x="24892" y="20320"/>
                  </a:lnTo>
                  <a:lnTo>
                    <a:pt x="6731" y="42291"/>
                  </a:lnTo>
                  <a:lnTo>
                    <a:pt x="0" y="69342"/>
                  </a:lnTo>
                  <a:lnTo>
                    <a:pt x="0" y="346837"/>
                  </a:lnTo>
                  <a:lnTo>
                    <a:pt x="6731" y="373888"/>
                  </a:lnTo>
                  <a:lnTo>
                    <a:pt x="24892" y="395858"/>
                  </a:lnTo>
                  <a:lnTo>
                    <a:pt x="51943" y="410718"/>
                  </a:lnTo>
                  <a:lnTo>
                    <a:pt x="84962" y="416178"/>
                  </a:lnTo>
                  <a:lnTo>
                    <a:pt x="4394199" y="416178"/>
                  </a:lnTo>
                  <a:lnTo>
                    <a:pt x="4427346" y="410718"/>
                  </a:lnTo>
                  <a:lnTo>
                    <a:pt x="4454270" y="395858"/>
                  </a:lnTo>
                  <a:lnTo>
                    <a:pt x="4472432" y="373888"/>
                  </a:lnTo>
                  <a:lnTo>
                    <a:pt x="4479163" y="346837"/>
                  </a:lnTo>
                  <a:lnTo>
                    <a:pt x="4479163" y="69342"/>
                  </a:lnTo>
                  <a:lnTo>
                    <a:pt x="4472432" y="42291"/>
                  </a:lnTo>
                  <a:lnTo>
                    <a:pt x="4454270" y="20320"/>
                  </a:lnTo>
                  <a:lnTo>
                    <a:pt x="4427346" y="5461"/>
                  </a:lnTo>
                  <a:lnTo>
                    <a:pt x="439419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70820" y="315102"/>
            <a:ext cx="2900046" cy="3135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PROPOSED SYSTEM</a:t>
            </a:r>
            <a:endParaRPr spc="-10" dirty="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14FA1999-7AF4-415B-90F2-B08737C67EB6}"/>
              </a:ext>
            </a:extLst>
          </p:cNvPr>
          <p:cNvSpPr/>
          <p:nvPr/>
        </p:nvSpPr>
        <p:spPr>
          <a:xfrm>
            <a:off x="718007" y="1040232"/>
            <a:ext cx="9005672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proposed system is a </a:t>
            </a:r>
            <a:r>
              <a:rPr lang="en-US" sz="2400" b="1" dirty="0"/>
              <a:t>desktop-based Complaint Management System</a:t>
            </a:r>
            <a:r>
              <a:rPr lang="en-US" sz="2400" dirty="0"/>
              <a:t> developed using Java Swing and MySQL database.</a:t>
            </a:r>
          </a:p>
          <a:p>
            <a:r>
              <a:rPr lang="en-US" sz="2400" dirty="0"/>
              <a:t>The system provides two types of users:</a:t>
            </a:r>
          </a:p>
          <a:p>
            <a:r>
              <a:rPr lang="en-US" sz="2400" b="1" dirty="0"/>
              <a:t>Student</a:t>
            </a:r>
            <a:br>
              <a:rPr lang="en-US" sz="2400" dirty="0"/>
            </a:br>
            <a:r>
              <a:rPr lang="en-US" sz="2400" dirty="0"/>
              <a:t>• Register complaints</a:t>
            </a:r>
            <a:br>
              <a:rPr lang="en-US" sz="2400" dirty="0"/>
            </a:br>
            <a:r>
              <a:rPr lang="en-US" sz="2400" dirty="0"/>
              <a:t>• View complaint status</a:t>
            </a:r>
          </a:p>
          <a:p>
            <a:r>
              <a:rPr lang="en-US" sz="2400" b="1" dirty="0"/>
              <a:t>Admin</a:t>
            </a:r>
            <a:br>
              <a:rPr lang="en-US" sz="2400" dirty="0"/>
            </a:br>
            <a:r>
              <a:rPr lang="en-US" sz="2400" dirty="0"/>
              <a:t>• View all complaints</a:t>
            </a:r>
            <a:br>
              <a:rPr lang="en-US" sz="2400" dirty="0"/>
            </a:br>
            <a:r>
              <a:rPr lang="en-US" sz="2400" dirty="0"/>
              <a:t>• Update complaint status</a:t>
            </a:r>
            <a:br>
              <a:rPr lang="en-US" sz="2400" dirty="0"/>
            </a:br>
            <a:r>
              <a:rPr lang="en-US" sz="2400" dirty="0"/>
              <a:t>• Delete complaints</a:t>
            </a:r>
            <a:br>
              <a:rPr lang="en-US" sz="2400" dirty="0"/>
            </a:br>
            <a:r>
              <a:rPr lang="en-US" sz="2400" dirty="0"/>
              <a:t>• Search complaints</a:t>
            </a:r>
          </a:p>
          <a:p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• Faster complaint processing</a:t>
            </a:r>
            <a:br>
              <a:rPr lang="en-US" sz="2400" dirty="0"/>
            </a:br>
            <a:r>
              <a:rPr lang="en-US" sz="2400" dirty="0"/>
              <a:t>• Secure database storage</a:t>
            </a:r>
            <a:br>
              <a:rPr lang="en-US" sz="2400" dirty="0"/>
            </a:br>
            <a:r>
              <a:rPr lang="en-US" sz="2400" dirty="0"/>
              <a:t>• Easy tracking of complaints</a:t>
            </a:r>
            <a:br>
              <a:rPr lang="en-US" sz="2400" dirty="0"/>
            </a:br>
            <a:r>
              <a:rPr lang="en-US" sz="2400" dirty="0"/>
              <a:t>• Reduced paperwork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1991" y="124256"/>
            <a:ext cx="4997704" cy="1092276"/>
            <a:chOff x="2721991" y="124256"/>
            <a:chExt cx="4997704" cy="109227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9746" y="257332"/>
              <a:ext cx="4601340" cy="7440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1991" y="124256"/>
              <a:ext cx="4997704" cy="10922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721" y="281470"/>
              <a:ext cx="4585208" cy="5225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02712" y="32080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99" y="0"/>
                  </a:moveTo>
                  <a:lnTo>
                    <a:pt x="84962" y="0"/>
                  </a:lnTo>
                  <a:lnTo>
                    <a:pt x="51943" y="5461"/>
                  </a:lnTo>
                  <a:lnTo>
                    <a:pt x="24892" y="20320"/>
                  </a:lnTo>
                  <a:lnTo>
                    <a:pt x="6731" y="42291"/>
                  </a:lnTo>
                  <a:lnTo>
                    <a:pt x="0" y="69342"/>
                  </a:lnTo>
                  <a:lnTo>
                    <a:pt x="0" y="346837"/>
                  </a:lnTo>
                  <a:lnTo>
                    <a:pt x="6731" y="373888"/>
                  </a:lnTo>
                  <a:lnTo>
                    <a:pt x="24892" y="395858"/>
                  </a:lnTo>
                  <a:lnTo>
                    <a:pt x="51943" y="410718"/>
                  </a:lnTo>
                  <a:lnTo>
                    <a:pt x="84962" y="416178"/>
                  </a:lnTo>
                  <a:lnTo>
                    <a:pt x="4394199" y="416178"/>
                  </a:lnTo>
                  <a:lnTo>
                    <a:pt x="4427346" y="410718"/>
                  </a:lnTo>
                  <a:lnTo>
                    <a:pt x="4454270" y="395858"/>
                  </a:lnTo>
                  <a:lnTo>
                    <a:pt x="4472432" y="373888"/>
                  </a:lnTo>
                  <a:lnTo>
                    <a:pt x="4479163" y="346837"/>
                  </a:lnTo>
                  <a:lnTo>
                    <a:pt x="4479163" y="69342"/>
                  </a:lnTo>
                  <a:lnTo>
                    <a:pt x="4472432" y="42291"/>
                  </a:lnTo>
                  <a:lnTo>
                    <a:pt x="4454270" y="20320"/>
                  </a:lnTo>
                  <a:lnTo>
                    <a:pt x="4427346" y="5461"/>
                  </a:lnTo>
                  <a:lnTo>
                    <a:pt x="439419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57600" y="345440"/>
            <a:ext cx="342899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SYSTEM ARCHITECTURE</a:t>
            </a:r>
            <a:endParaRPr sz="19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pic>
        <p:nvPicPr>
          <p:cNvPr id="12" name="Image 1">
            <a:extLst>
              <a:ext uri="{FF2B5EF4-FFF2-40B4-BE49-F238E27FC236}">
                <a16:creationId xmlns:a16="http://schemas.microsoft.com/office/drawing/2014/main" id="{CD928A92-6DC8-43D1-83D2-3A4CDAC9323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3511" y="1134454"/>
            <a:ext cx="3845089" cy="46567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C0959AC-072E-4435-B991-C9B75FEC4E0A}"/>
              </a:ext>
            </a:extLst>
          </p:cNvPr>
          <p:cNvSpPr/>
          <p:nvPr/>
        </p:nvSpPr>
        <p:spPr>
          <a:xfrm>
            <a:off x="4285832" y="1024828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1. Student Login Module</a:t>
            </a:r>
          </a:p>
        </p:txBody>
      </p:sp>
      <p:pic>
        <p:nvPicPr>
          <p:cNvPr id="15" name="Image 2">
            <a:extLst>
              <a:ext uri="{FF2B5EF4-FFF2-40B4-BE49-F238E27FC236}">
                <a16:creationId xmlns:a16="http://schemas.microsoft.com/office/drawing/2014/main" id="{58D4AF1C-633D-46D2-86C6-76B36C6143F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0" y="1905000"/>
            <a:ext cx="4191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E7EB14-CC33-40DB-A23A-D1113D98F87F}"/>
              </a:ext>
            </a:extLst>
          </p:cNvPr>
          <p:cNvSpPr/>
          <p:nvPr/>
        </p:nvSpPr>
        <p:spPr>
          <a:xfrm>
            <a:off x="5791200" y="762000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3. Student Dashboard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CA85F-22A3-469C-8289-EC4E133C760F}"/>
              </a:ext>
            </a:extLst>
          </p:cNvPr>
          <p:cNvSpPr/>
          <p:nvPr/>
        </p:nvSpPr>
        <p:spPr>
          <a:xfrm>
            <a:off x="685800" y="762000"/>
            <a:ext cx="297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2. Admin Login Module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8" name="Image 3">
            <a:extLst>
              <a:ext uri="{FF2B5EF4-FFF2-40B4-BE49-F238E27FC236}">
                <a16:creationId xmlns:a16="http://schemas.microsoft.com/office/drawing/2014/main" id="{E5DCE2FE-8743-4AE7-BDA0-449E550C5B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" y="1744563"/>
            <a:ext cx="3558540" cy="3809257"/>
          </a:xfrm>
          <a:prstGeom prst="rect">
            <a:avLst/>
          </a:prstGeom>
        </p:spPr>
      </p:pic>
      <p:pic>
        <p:nvPicPr>
          <p:cNvPr id="9" name="Image 4">
            <a:extLst>
              <a:ext uri="{FF2B5EF4-FFF2-40B4-BE49-F238E27FC236}">
                <a16:creationId xmlns:a16="http://schemas.microsoft.com/office/drawing/2014/main" id="{4D451D67-1CBD-4D27-B2E5-65A99D32F26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0200" y="1744563"/>
            <a:ext cx="4140200" cy="38092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F99422-FFE7-41D2-BC92-CE28442472F3}"/>
              </a:ext>
            </a:extLst>
          </p:cNvPr>
          <p:cNvSpPr/>
          <p:nvPr/>
        </p:nvSpPr>
        <p:spPr>
          <a:xfrm>
            <a:off x="533400" y="838200"/>
            <a:ext cx="3615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Complaint</a:t>
            </a:r>
            <a:r>
              <a:rPr lang="en-US" sz="1800" b="1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Registration Module</a:t>
            </a:r>
            <a:r>
              <a:rPr lang="en-US" sz="1800" b="1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DF9EDD1-E154-489C-93CD-D7C26F6946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800" y="1417082"/>
            <a:ext cx="4775200" cy="4069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D6EED2-EC3B-4F59-96A2-043807DD3E51}"/>
              </a:ext>
            </a:extLst>
          </p:cNvPr>
          <p:cNvSpPr/>
          <p:nvPr/>
        </p:nvSpPr>
        <p:spPr>
          <a:xfrm>
            <a:off x="6096000" y="838200"/>
            <a:ext cx="2421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View</a:t>
            </a:r>
            <a:r>
              <a:rPr lang="en-US" sz="18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Status Module</a:t>
            </a:r>
            <a:r>
              <a:rPr lang="en-US" sz="18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b="1" dirty="0"/>
          </a:p>
        </p:txBody>
      </p:sp>
      <p:pic>
        <p:nvPicPr>
          <p:cNvPr id="8" name="Image 6">
            <a:extLst>
              <a:ext uri="{FF2B5EF4-FFF2-40B4-BE49-F238E27FC236}">
                <a16:creationId xmlns:a16="http://schemas.microsoft.com/office/drawing/2014/main" id="{A9B1B1B6-FAB6-4805-8F95-B125B2D82B2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0" y="1417081"/>
            <a:ext cx="3886200" cy="4069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F99422-FFE7-41D2-BC92-CE28442472F3}"/>
              </a:ext>
            </a:extLst>
          </p:cNvPr>
          <p:cNvSpPr/>
          <p:nvPr/>
        </p:nvSpPr>
        <p:spPr>
          <a:xfrm>
            <a:off x="533400" y="838200"/>
            <a:ext cx="266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pc="-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</a:t>
            </a:r>
            <a:r>
              <a:rPr lang="en-US" sz="1800" b="1" dirty="0"/>
              <a:t> Admin Dashboard</a:t>
            </a:r>
            <a:endParaRPr lang="en-IN" sz="1800" b="1" dirty="0"/>
          </a:p>
          <a:p>
            <a:r>
              <a:rPr lang="en-US" sz="1800" b="1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b="1" dirty="0"/>
          </a:p>
        </p:txBody>
      </p:sp>
      <p:pic>
        <p:nvPicPr>
          <p:cNvPr id="9" name="Image 7">
            <a:extLst>
              <a:ext uri="{FF2B5EF4-FFF2-40B4-BE49-F238E27FC236}">
                <a16:creationId xmlns:a16="http://schemas.microsoft.com/office/drawing/2014/main" id="{8FB9B5F6-5EEE-4F1C-A550-F3F14883B5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1484530"/>
            <a:ext cx="6172202" cy="48400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CEDFE7-C6B4-4A0E-8279-847480236610}"/>
              </a:ext>
            </a:extLst>
          </p:cNvPr>
          <p:cNvSpPr/>
          <p:nvPr/>
        </p:nvSpPr>
        <p:spPr>
          <a:xfrm>
            <a:off x="7023102" y="1600200"/>
            <a:ext cx="2356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View</a:t>
            </a:r>
            <a:r>
              <a:rPr lang="en-US" sz="18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Details POPUP </a:t>
            </a:r>
            <a:endParaRPr lang="en-IN" dirty="0"/>
          </a:p>
        </p:txBody>
      </p:sp>
      <p:pic>
        <p:nvPicPr>
          <p:cNvPr id="10" name="Image 8">
            <a:extLst>
              <a:ext uri="{FF2B5EF4-FFF2-40B4-BE49-F238E27FC236}">
                <a16:creationId xmlns:a16="http://schemas.microsoft.com/office/drawing/2014/main" id="{C2E3870A-17A5-4827-B66C-CC8732764E9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3102" y="2209800"/>
            <a:ext cx="2806698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6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8E6BFE-3506-4C29-A7C4-BC0BA2609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409825"/>
            <a:ext cx="7540234" cy="20336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15070B-BC99-4B4F-AEC5-B29AE45BFA2E}"/>
              </a:ext>
            </a:extLst>
          </p:cNvPr>
          <p:cNvSpPr/>
          <p:nvPr/>
        </p:nvSpPr>
        <p:spPr>
          <a:xfrm>
            <a:off x="820102" y="834571"/>
            <a:ext cx="266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pc="-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DATABASE TABLE</a:t>
            </a:r>
            <a:r>
              <a:rPr lang="en-US" sz="1800" b="1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D1E55-982B-405A-A735-FAADC38AA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254" y="3620410"/>
            <a:ext cx="7558377" cy="2323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6F2307-D9EF-4ABD-9D2F-E3A4C4ADF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6459901"/>
            <a:ext cx="7363831" cy="110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5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1991" y="124256"/>
            <a:ext cx="4998085" cy="1092835"/>
            <a:chOff x="2721991" y="124256"/>
            <a:chExt cx="499808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9746" y="257332"/>
              <a:ext cx="4601340" cy="7440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1991" y="124256"/>
              <a:ext cx="4997704" cy="10922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721" y="281470"/>
              <a:ext cx="4585208" cy="5225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02712" y="32080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99" y="0"/>
                  </a:moveTo>
                  <a:lnTo>
                    <a:pt x="84962" y="0"/>
                  </a:lnTo>
                  <a:lnTo>
                    <a:pt x="51943" y="5461"/>
                  </a:lnTo>
                  <a:lnTo>
                    <a:pt x="24892" y="20320"/>
                  </a:lnTo>
                  <a:lnTo>
                    <a:pt x="6731" y="42291"/>
                  </a:lnTo>
                  <a:lnTo>
                    <a:pt x="0" y="69342"/>
                  </a:lnTo>
                  <a:lnTo>
                    <a:pt x="0" y="346837"/>
                  </a:lnTo>
                  <a:lnTo>
                    <a:pt x="6731" y="373888"/>
                  </a:lnTo>
                  <a:lnTo>
                    <a:pt x="24892" y="395858"/>
                  </a:lnTo>
                  <a:lnTo>
                    <a:pt x="51943" y="410718"/>
                  </a:lnTo>
                  <a:lnTo>
                    <a:pt x="84962" y="416178"/>
                  </a:lnTo>
                  <a:lnTo>
                    <a:pt x="4394199" y="416178"/>
                  </a:lnTo>
                  <a:lnTo>
                    <a:pt x="4427346" y="410718"/>
                  </a:lnTo>
                  <a:lnTo>
                    <a:pt x="4454270" y="395858"/>
                  </a:lnTo>
                  <a:lnTo>
                    <a:pt x="4472432" y="373888"/>
                  </a:lnTo>
                  <a:lnTo>
                    <a:pt x="4479163" y="346837"/>
                  </a:lnTo>
                  <a:lnTo>
                    <a:pt x="4479163" y="69342"/>
                  </a:lnTo>
                  <a:lnTo>
                    <a:pt x="4472432" y="42291"/>
                  </a:lnTo>
                  <a:lnTo>
                    <a:pt x="4454270" y="20320"/>
                  </a:lnTo>
                  <a:lnTo>
                    <a:pt x="4427346" y="5461"/>
                  </a:lnTo>
                  <a:lnTo>
                    <a:pt x="439419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17975" y="356743"/>
            <a:ext cx="206883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n-IN" sz="2000" dirty="0">
                <a:solidFill>
                  <a:schemeClr val="bg1"/>
                </a:solidFill>
                <a:latin typeface="Times New Roman"/>
                <a:cs typeface="Times New Roman"/>
              </a:rPr>
              <a:t>ETHODOLOGY</a:t>
            </a:r>
            <a:endParaRPr sz="19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6ED59A-13E1-4246-AA97-063CD43BF443}"/>
              </a:ext>
            </a:extLst>
          </p:cNvPr>
          <p:cNvSpPr/>
          <p:nvPr/>
        </p:nvSpPr>
        <p:spPr>
          <a:xfrm>
            <a:off x="872254" y="1349608"/>
            <a:ext cx="872894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Step-by-step working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User opens the application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User selects Student Login or Admin Login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Login credentials are validated from the database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Students can register complaints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Complaint details are stored in the MySQL database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Admin views complaints in the dashboard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Admin updates complaint status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Students can track complaint progress</a:t>
            </a:r>
          </a:p>
          <a:p>
            <a:r>
              <a:rPr lang="en-US" sz="2400" b="1" dirty="0"/>
              <a:t>Algorithm Used</a:t>
            </a:r>
          </a:p>
          <a:p>
            <a:r>
              <a:rPr lang="en-US" sz="2400" dirty="0"/>
              <a:t>Basic CRUD operations:</a:t>
            </a:r>
          </a:p>
          <a:p>
            <a:r>
              <a:rPr lang="en-US" sz="2400" dirty="0"/>
              <a:t>• Insert – Register complaint</a:t>
            </a:r>
            <a:br>
              <a:rPr lang="en-US" sz="2400" dirty="0"/>
            </a:br>
            <a:r>
              <a:rPr lang="en-US" sz="2400" dirty="0"/>
              <a:t>• Select – View complaints</a:t>
            </a:r>
            <a:br>
              <a:rPr lang="en-US" sz="2400" dirty="0"/>
            </a:br>
            <a:r>
              <a:rPr lang="en-US" sz="2400" dirty="0"/>
              <a:t>• Update – Update complaint status</a:t>
            </a:r>
            <a:br>
              <a:rPr lang="en-US" sz="2400" dirty="0"/>
            </a:br>
            <a:r>
              <a:rPr lang="en-US" sz="2400" dirty="0"/>
              <a:t>• Delete – Remove complaint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45791" y="200329"/>
            <a:ext cx="4998085" cy="1092835"/>
            <a:chOff x="2645791" y="200329"/>
            <a:chExt cx="499808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3546" y="333405"/>
              <a:ext cx="4601340" cy="7440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5791" y="200329"/>
              <a:ext cx="4997704" cy="10922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1521" y="357543"/>
              <a:ext cx="4585208" cy="5225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26512" y="396875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99" y="0"/>
                  </a:moveTo>
                  <a:lnTo>
                    <a:pt x="84962" y="0"/>
                  </a:lnTo>
                  <a:lnTo>
                    <a:pt x="51943" y="5460"/>
                  </a:lnTo>
                  <a:lnTo>
                    <a:pt x="24892" y="20320"/>
                  </a:lnTo>
                  <a:lnTo>
                    <a:pt x="6731" y="42291"/>
                  </a:lnTo>
                  <a:lnTo>
                    <a:pt x="0" y="69342"/>
                  </a:lnTo>
                  <a:lnTo>
                    <a:pt x="0" y="346836"/>
                  </a:lnTo>
                  <a:lnTo>
                    <a:pt x="6731" y="373888"/>
                  </a:lnTo>
                  <a:lnTo>
                    <a:pt x="24892" y="395858"/>
                  </a:lnTo>
                  <a:lnTo>
                    <a:pt x="51943" y="410845"/>
                  </a:lnTo>
                  <a:lnTo>
                    <a:pt x="84962" y="416178"/>
                  </a:lnTo>
                  <a:lnTo>
                    <a:pt x="4394199" y="416178"/>
                  </a:lnTo>
                  <a:lnTo>
                    <a:pt x="4427346" y="410845"/>
                  </a:lnTo>
                  <a:lnTo>
                    <a:pt x="4454270" y="395858"/>
                  </a:lnTo>
                  <a:lnTo>
                    <a:pt x="4472432" y="373888"/>
                  </a:lnTo>
                  <a:lnTo>
                    <a:pt x="4479163" y="346836"/>
                  </a:lnTo>
                  <a:lnTo>
                    <a:pt x="4479163" y="69342"/>
                  </a:lnTo>
                  <a:lnTo>
                    <a:pt x="4472432" y="42291"/>
                  </a:lnTo>
                  <a:lnTo>
                    <a:pt x="4454270" y="20320"/>
                  </a:lnTo>
                  <a:lnTo>
                    <a:pt x="4427346" y="5460"/>
                  </a:lnTo>
                  <a:lnTo>
                    <a:pt x="439419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64433" y="429109"/>
            <a:ext cx="3360420" cy="3135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TOOLS &amp; TECHNOLOGIES</a:t>
            </a:r>
            <a:endParaRPr spc="-10" dirty="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167EEF-AFFE-4299-AD97-2DDBDB9B6E44}"/>
              </a:ext>
            </a:extLst>
          </p:cNvPr>
          <p:cNvSpPr/>
          <p:nvPr/>
        </p:nvSpPr>
        <p:spPr>
          <a:xfrm>
            <a:off x="1066800" y="1425681"/>
            <a:ext cx="731519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Software Tools</a:t>
            </a:r>
          </a:p>
          <a:p>
            <a:r>
              <a:rPr lang="en-IN" sz="2400" dirty="0"/>
              <a:t>• MySQL Workbench</a:t>
            </a:r>
            <a:br>
              <a:rPr lang="en-IN" sz="2400" dirty="0"/>
            </a:br>
            <a:r>
              <a:rPr lang="en-IN" sz="2400" dirty="0"/>
              <a:t>• Command Prompt</a:t>
            </a:r>
            <a:br>
              <a:rPr lang="en-IN" sz="2400" dirty="0"/>
            </a:br>
            <a:r>
              <a:rPr lang="en-IN" sz="2400" dirty="0"/>
              <a:t>• Java JDK</a:t>
            </a:r>
            <a:br>
              <a:rPr lang="en-IN" sz="2400" dirty="0"/>
            </a:br>
            <a:r>
              <a:rPr lang="en-IN" sz="2400" dirty="0"/>
              <a:t>• MySQL Server</a:t>
            </a:r>
          </a:p>
          <a:p>
            <a:r>
              <a:rPr lang="en-IN" sz="2400" b="1" dirty="0"/>
              <a:t>Programming Language</a:t>
            </a:r>
          </a:p>
          <a:p>
            <a:r>
              <a:rPr lang="en-IN" sz="2400" dirty="0"/>
              <a:t>• Java (Core Java)</a:t>
            </a:r>
          </a:p>
          <a:p>
            <a:r>
              <a:rPr lang="en-IN" sz="2400" b="1" dirty="0"/>
              <a:t>Technologies</a:t>
            </a:r>
          </a:p>
          <a:p>
            <a:r>
              <a:rPr lang="en-IN" sz="2400" dirty="0"/>
              <a:t>• Java Swing (GUI Development)</a:t>
            </a:r>
            <a:br>
              <a:rPr lang="en-IN" sz="2400" dirty="0"/>
            </a:br>
            <a:r>
              <a:rPr lang="en-IN" sz="2400" dirty="0"/>
              <a:t>• JDBC (Database Connectivity)</a:t>
            </a:r>
          </a:p>
          <a:p>
            <a:r>
              <a:rPr lang="en-IN" sz="2400" b="1" dirty="0"/>
              <a:t>Database</a:t>
            </a:r>
          </a:p>
          <a:p>
            <a:r>
              <a:rPr lang="en-IN" sz="2400" dirty="0"/>
              <a:t>• MySQL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1801" y="416483"/>
            <a:ext cx="2379218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lang="en-IN" sz="2000" dirty="0">
                <a:solidFill>
                  <a:schemeClr val="bg1"/>
                </a:solidFill>
                <a:latin typeface="Times New Roman"/>
                <a:cs typeface="Times New Roman"/>
              </a:rPr>
              <a:t>MPLEMENTATION</a:t>
            </a:r>
            <a:endParaRPr sz="19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A61289-6C35-4FAC-B091-CEBB2C4E7696}"/>
              </a:ext>
            </a:extLst>
          </p:cNvPr>
          <p:cNvSpPr/>
          <p:nvPr/>
        </p:nvSpPr>
        <p:spPr>
          <a:xfrm>
            <a:off x="1227201" y="1295400"/>
            <a:ext cx="50292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dirty="0"/>
              <a:t>Completed Modules</a:t>
            </a:r>
          </a:p>
          <a:p>
            <a:r>
              <a:rPr lang="en-IN" sz="2400" dirty="0"/>
              <a:t>✔ Student Login</a:t>
            </a:r>
            <a:br>
              <a:rPr lang="en-IN" sz="2400" dirty="0"/>
            </a:br>
            <a:r>
              <a:rPr lang="en-IN" sz="2400" dirty="0"/>
              <a:t>✔ Admin Login</a:t>
            </a:r>
            <a:br>
              <a:rPr lang="en-IN" sz="2400" dirty="0"/>
            </a:br>
            <a:r>
              <a:rPr lang="en-IN" sz="2400" dirty="0"/>
              <a:t>✔ Complaint Registration</a:t>
            </a:r>
            <a:br>
              <a:rPr lang="en-IN" sz="2400" dirty="0"/>
            </a:br>
            <a:r>
              <a:rPr lang="en-IN" sz="2400" dirty="0"/>
              <a:t>✔ View Complaint Status</a:t>
            </a:r>
            <a:br>
              <a:rPr lang="en-IN" sz="2400" dirty="0"/>
            </a:br>
            <a:r>
              <a:rPr lang="en-IN" sz="2400" dirty="0"/>
              <a:t>✔ Admin Dashboard</a:t>
            </a:r>
            <a:br>
              <a:rPr lang="en-IN" sz="2400" dirty="0"/>
            </a:br>
            <a:r>
              <a:rPr lang="en-IN" sz="2400" dirty="0"/>
              <a:t>✔ Database Integration</a:t>
            </a:r>
          </a:p>
          <a:p>
            <a:endParaRPr lang="en-IN" sz="2400" dirty="0"/>
          </a:p>
          <a:p>
            <a:r>
              <a:rPr lang="en-IN" sz="2400" b="1" dirty="0"/>
              <a:t>Current Progress</a:t>
            </a:r>
          </a:p>
          <a:p>
            <a:r>
              <a:rPr lang="en-IN" sz="2400" dirty="0"/>
              <a:t>Project Completion: </a:t>
            </a:r>
            <a:r>
              <a:rPr lang="en-IN" sz="2400" b="1" dirty="0"/>
              <a:t>100%</a:t>
            </a:r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1801" y="416483"/>
            <a:ext cx="2379218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RESULT / OUTPUT</a:t>
            </a:r>
            <a:endParaRPr sz="19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0BF28C-78D6-4382-8ADF-AE0C4A78E9EA}"/>
              </a:ext>
            </a:extLst>
          </p:cNvPr>
          <p:cNvSpPr/>
          <p:nvPr/>
        </p:nvSpPr>
        <p:spPr>
          <a:xfrm>
            <a:off x="1295400" y="1828800"/>
            <a:ext cx="7696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system successfully performs the following operations:</a:t>
            </a:r>
          </a:p>
          <a:p>
            <a:r>
              <a:rPr lang="en-US" sz="2800" dirty="0"/>
              <a:t>• Student login authentication</a:t>
            </a:r>
            <a:br>
              <a:rPr lang="en-US" sz="2800" dirty="0"/>
            </a:br>
            <a:r>
              <a:rPr lang="en-US" sz="2800" dirty="0"/>
              <a:t>• Complaint submission</a:t>
            </a:r>
            <a:br>
              <a:rPr lang="en-US" sz="2800" dirty="0"/>
            </a:br>
            <a:r>
              <a:rPr lang="en-US" sz="2800" dirty="0"/>
              <a:t>• Complaint storage in database</a:t>
            </a:r>
            <a:br>
              <a:rPr lang="en-US" sz="2800" dirty="0"/>
            </a:br>
            <a:r>
              <a:rPr lang="en-US" sz="2800" dirty="0"/>
              <a:t>• Admin complaint management</a:t>
            </a:r>
            <a:br>
              <a:rPr lang="en-US" sz="2800" dirty="0"/>
            </a:br>
            <a:r>
              <a:rPr lang="en-US" sz="2800" dirty="0"/>
              <a:t>• Status update functionality</a:t>
            </a:r>
            <a:br>
              <a:rPr lang="en-US" sz="2800" dirty="0"/>
            </a:br>
            <a:r>
              <a:rPr lang="en-US" sz="2800" dirty="0"/>
              <a:t>• Student complaint tracking</a:t>
            </a:r>
          </a:p>
        </p:txBody>
      </p:sp>
    </p:spTree>
    <p:extLst>
      <p:ext uri="{BB962C8B-B14F-4D97-AF65-F5344CB8AC3E}">
        <p14:creationId xmlns:p14="http://schemas.microsoft.com/office/powerpoint/2010/main" val="1553056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8335" y="3300806"/>
            <a:ext cx="39357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E36C09"/>
                </a:solidFill>
                <a:latin typeface="Palatino Linotype"/>
                <a:cs typeface="Palatino Linotype"/>
              </a:rPr>
              <a:t>THANK</a:t>
            </a:r>
            <a:r>
              <a:rPr sz="4800" spc="-190" dirty="0">
                <a:solidFill>
                  <a:srgbClr val="E36C09"/>
                </a:solidFill>
                <a:latin typeface="Palatino Linotype"/>
                <a:cs typeface="Palatino Linotype"/>
              </a:rPr>
              <a:t> </a:t>
            </a:r>
            <a:r>
              <a:rPr sz="4800" spc="-25" dirty="0">
                <a:solidFill>
                  <a:srgbClr val="E36C09"/>
                </a:solidFill>
                <a:latin typeface="Palatino Linotype"/>
                <a:cs typeface="Palatino Linotype"/>
              </a:rPr>
              <a:t>YOU</a:t>
            </a:r>
            <a:endParaRPr sz="480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3" y="204317"/>
            <a:ext cx="1163002" cy="424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520</Words>
  <Application>Microsoft Office PowerPoint</Application>
  <PresentationFormat>Custom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Palatino Linotype</vt:lpstr>
      <vt:lpstr>Times New Roman</vt:lpstr>
      <vt:lpstr>Office Theme</vt:lpstr>
      <vt:lpstr>    Department of Information Technology Java Programming Capstone Project</vt:lpstr>
      <vt:lpstr>PROBLEM STATEMENT</vt:lpstr>
      <vt:lpstr>OBJECTIVES</vt:lpstr>
      <vt:lpstr>PROPOSED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&amp; TECHNOLOGIES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24B11IT097</cp:lastModifiedBy>
  <cp:revision>8</cp:revision>
  <dcterms:created xsi:type="dcterms:W3CDTF">2026-03-01T06:01:37Z</dcterms:created>
  <dcterms:modified xsi:type="dcterms:W3CDTF">2026-03-01T07:14:55Z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2026-03-01T00:00:00Z</vt:filetime>
  </property>
  <property fmtid="{D5CDD505-2E9C-101B-9397-08002B2CF9AE}" pid="5" name="Producer">
    <vt:lpwstr>Microsoft® PowerPoint® 2024</vt:lpwstr>
  </property>
</Properties>
</file>